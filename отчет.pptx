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692" r:id="rId2"/>
    <p:sldId id="693" r:id="rId3"/>
    <p:sldId id="694" r:id="rId4"/>
    <p:sldId id="651" r:id="rId5"/>
    <p:sldId id="726" r:id="rId6"/>
    <p:sldId id="744" r:id="rId7"/>
    <p:sldId id="745" r:id="rId8"/>
    <p:sldId id="746" r:id="rId9"/>
    <p:sldId id="727" r:id="rId10"/>
    <p:sldId id="747" r:id="rId11"/>
    <p:sldId id="748" r:id="rId12"/>
    <p:sldId id="728" r:id="rId13"/>
    <p:sldId id="749" r:id="rId14"/>
    <p:sldId id="750" r:id="rId15"/>
    <p:sldId id="751" r:id="rId16"/>
    <p:sldId id="739" r:id="rId17"/>
    <p:sldId id="754" r:id="rId18"/>
    <p:sldId id="755" r:id="rId19"/>
    <p:sldId id="743" r:id="rId20"/>
    <p:sldId id="690" r:id="rId21"/>
    <p:sldId id="691" r:id="rId22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xmlns="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E60000"/>
    <a:srgbClr val="052E81"/>
    <a:srgbClr val="0000CC"/>
    <a:srgbClr val="003399"/>
    <a:srgbClr val="0000FF"/>
    <a:srgbClr val="3333CC"/>
    <a:srgbClr val="EB0000"/>
    <a:srgbClr val="EB1E00"/>
    <a:srgbClr val="E5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6408" autoAdjust="0"/>
  </p:normalViewPr>
  <p:slideViewPr>
    <p:cSldViewPr showGuides="1">
      <p:cViewPr varScale="1">
        <p:scale>
          <a:sx n="106" d="100"/>
          <a:sy n="106" d="100"/>
        </p:scale>
        <p:origin x="-1290" y="-96"/>
      </p:cViewPr>
      <p:guideLst>
        <p:guide orient="horz" pos="2296"/>
        <p:guide orient="horz" pos="2531"/>
        <p:guide pos="2880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CA9037-5C04-413C-AFF2-1B3777C3E58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0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64645" y="36215"/>
            <a:ext cx="2401735" cy="1883566"/>
            <a:chOff x="108831" y="-599499"/>
            <a:chExt cx="2520279" cy="1976534"/>
          </a:xfrm>
        </p:grpSpPr>
        <p:sp>
          <p:nvSpPr>
            <p:cNvPr id="10" name="Овал 9"/>
            <p:cNvSpPr/>
            <p:nvPr userDrawn="1"/>
          </p:nvSpPr>
          <p:spPr>
            <a:xfrm>
              <a:off x="234132" y="-565606"/>
              <a:ext cx="2269678" cy="187645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232B74"/>
                </a:clrFrom>
                <a:clrTo>
                  <a:srgbClr val="232B7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831" y="-599499"/>
              <a:ext cx="2520279" cy="1976534"/>
            </a:xfrm>
            <a:prstGeom prst="rect">
              <a:avLst/>
            </a:prstGeom>
          </p:spPr>
        </p:pic>
      </p:grpSp>
      <p:sp>
        <p:nvSpPr>
          <p:cNvPr id="3" name="Полилиния 2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99CCF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Полилиния 8"/>
          <p:cNvSpPr/>
          <p:nvPr userDrawn="1"/>
        </p:nvSpPr>
        <p:spPr>
          <a:xfrm>
            <a:off x="9499310" y="6637967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Полилиния 7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xmlns="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Полилиния 6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xmlns="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xmlns="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xmlns="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xmlns="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Полилиния 11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xmlns="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xmlns="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xmlns="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xmlns="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xmlns="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xmlns="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xmlns="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xmlns="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xmlns="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xmlns="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xmlns="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олилиния 18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9" r:id="rId2"/>
    <p:sldLayoutId id="2147483739" r:id="rId3"/>
    <p:sldLayoutId id="2147483736" r:id="rId4"/>
    <p:sldLayoutId id="2147483738" r:id="rId5"/>
    <p:sldLayoutId id="2147483737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33" y="4572719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>ОТЧЕТ </a:t>
            </a:r>
            <a:br>
              <a:rPr lang="ru-RU" sz="2100" dirty="0" smtClean="0"/>
            </a:br>
            <a:r>
              <a:rPr lang="ru-RU" sz="2100" dirty="0" smtClean="0"/>
              <a:t>о прохождении производственной практики</a:t>
            </a:r>
            <a:br>
              <a:rPr lang="ru-RU" sz="2100" dirty="0" smtClean="0"/>
            </a:br>
            <a:r>
              <a:rPr lang="ru-RU" sz="2100" dirty="0" smtClean="0"/>
              <a:t> </a:t>
            </a:r>
            <a:br>
              <a:rPr lang="ru-RU" sz="2100" dirty="0" smtClean="0"/>
            </a:br>
            <a:r>
              <a:rPr lang="ru-RU" sz="2100" dirty="0" smtClean="0"/>
              <a:t>по профессиональному модулю ПМ.01 Разработка программных модулей программного обеспечения компьютерных систем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ru-RU" sz="2100" dirty="0" smtClean="0"/>
              <a:t>в период с «18» _____05____ 2026 г. по «30» ____05_____ 2026 г.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100" dirty="0" smtClean="0"/>
              <a:t>Специальность 09.02.07 Информационные системы и программирование</a:t>
            </a: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xmlns="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Абдурахманов Алик </a:t>
            </a:r>
            <a:r>
              <a:rPr kumimoji="0" lang="ru-RU" altLang="ru-RU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Абдулбекович</a:t>
            </a:r>
            <a:r>
              <a:rPr lang="ru-RU" altLang="ru-RU" sz="2000" dirty="0" smtClean="0">
                <a:solidFill>
                  <a:srgbClr val="FF0000"/>
                </a:solidFill>
              </a:rPr>
              <a:t>________</a:t>
            </a:r>
            <a:endParaRPr kumimoji="0" lang="ru-RU" altLang="ru-RU" sz="2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Группа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: 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И-СП-24</a:t>
            </a:r>
            <a:r>
              <a:rPr lang="ru-RU" altLang="ru-RU" sz="2400" dirty="0" smtClean="0">
                <a:solidFill>
                  <a:srgbClr val="FF0000"/>
                </a:solidFill>
              </a:rPr>
              <a:t>_________________________________________</a:t>
            </a:r>
            <a:endParaRPr lang="ru-RU" altLang="ru-RU" sz="2400" dirty="0">
              <a:solidFill>
                <a:srgbClr val="FF0000"/>
              </a:solidFill>
              <a:latin typeface="Calibri"/>
            </a:endParaRPr>
          </a:p>
          <a:p>
            <a:pPr algn="l"/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Магомедова </a:t>
            </a:r>
            <a:r>
              <a:rPr kumimoji="0" lang="ru-RU" altLang="ru-RU" sz="2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Мадина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altLang="ru-RU" sz="2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Нурмагомедовна</a:t>
            </a:r>
            <a:r>
              <a:rPr lang="ru-RU" altLang="ru-RU" sz="2000" dirty="0" smtClean="0">
                <a:solidFill>
                  <a:srgbClr val="FF0000"/>
                </a:solidFill>
              </a:rPr>
              <a:t>_____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 hangingPunct="0"/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МИНИСТЕРСТВО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ОБРАЗОВАНИЯ И НАУКИ 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РЕСПУБЛИКИ ДАГЕСТАН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Частное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профессиональное образовательное учреждение </a:t>
            </a:r>
          </a:p>
          <a:p>
            <a:pPr algn="ctr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«Республиканский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полипрофессиональный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колледж»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altLang="ru-RU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0156" y="1836415"/>
            <a:ext cx="9687193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1. </a:t>
            </a:r>
            <a:r>
              <a:rPr lang="ru-RU" sz="2000" dirty="0" smtClean="0"/>
              <a:t>Инструктаж </a:t>
            </a:r>
            <a:r>
              <a:rPr lang="ru-RU" sz="2000" dirty="0"/>
              <a:t>по соблюдению правил противопожарной безопасности, правил охраны труда, м</a:t>
            </a:r>
            <a:r>
              <a:rPr lang="ru-RU" sz="2000" dirty="0" smtClean="0"/>
              <a:t>еры </a:t>
            </a:r>
            <a:r>
              <a:rPr lang="ru-RU" sz="2000" dirty="0"/>
              <a:t>по обеспечению безопасности при работе с компьютерной </a:t>
            </a:r>
            <a:r>
              <a:rPr lang="ru-RU" sz="2000" dirty="0" smtClean="0"/>
              <a:t>техникой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2. </a:t>
            </a:r>
            <a:r>
              <a:rPr lang="ru-RU" dirty="0" smtClean="0"/>
              <a:t>Анализ предметной области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3. </a:t>
            </a:r>
            <a:r>
              <a:rPr lang="ru-RU" sz="2000" dirty="0" smtClean="0"/>
              <a:t>Разработка спецификаций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4. </a:t>
            </a:r>
            <a:r>
              <a:rPr lang="ru-RU" sz="2000" dirty="0" smtClean="0"/>
              <a:t>Разработка кода программного продукта на основе готовой спецификации на уровне модуля</a:t>
            </a:r>
            <a:endParaRPr lang="ru-RU" sz="2000" dirty="0"/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5. </a:t>
            </a:r>
            <a:r>
              <a:rPr lang="ru-RU" sz="2000" dirty="0" smtClean="0"/>
              <a:t>Проведение тестирования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6. </a:t>
            </a:r>
            <a:r>
              <a:rPr lang="ru-RU" sz="2000" dirty="0" smtClean="0"/>
              <a:t>Вывод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 smtClean="0"/>
              <a:t>Организационный этап</a:t>
            </a:r>
            <a:endParaRPr lang="ru-RU" sz="3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</a:t>
            </a:r>
            <a:r>
              <a:rPr lang="ru-RU" sz="1600" dirty="0" smtClean="0"/>
              <a:t>Абдурахманов Алик </a:t>
            </a:r>
            <a:r>
              <a:rPr lang="ru-RU" sz="1600" dirty="0" err="1" smtClean="0"/>
              <a:t>Абдулбекович</a:t>
            </a:r>
            <a:r>
              <a:rPr lang="ru-RU" sz="1600" dirty="0" smtClean="0"/>
              <a:t>, </a:t>
            </a:r>
            <a:r>
              <a:rPr lang="ru-RU" sz="1600" dirty="0"/>
              <a:t>проходил(а) </a:t>
            </a:r>
            <a:r>
              <a:rPr lang="ru-RU" sz="1600" dirty="0" smtClean="0"/>
              <a:t>производственную </a:t>
            </a:r>
            <a:r>
              <a:rPr lang="ru-RU" sz="1600" dirty="0"/>
              <a:t>практику на базе </a:t>
            </a:r>
            <a:r>
              <a:rPr lang="ru-RU" sz="1600" dirty="0" smtClean="0"/>
              <a:t>АО </a:t>
            </a:r>
            <a:r>
              <a:rPr lang="en-US" sz="1600" dirty="0" smtClean="0"/>
              <a:t>“</a:t>
            </a:r>
            <a:r>
              <a:rPr lang="ru-RU" sz="1600" dirty="0" smtClean="0"/>
              <a:t>Концерн КЭМЗ</a:t>
            </a:r>
            <a:r>
              <a:rPr lang="en-US" sz="1600" dirty="0" smtClean="0"/>
              <a:t>”</a:t>
            </a:r>
            <a:endParaRPr lang="ru-RU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При выполнении индивидуального задания по практике решал(а) задачу </a:t>
            </a:r>
            <a:r>
              <a:rPr lang="ru-RU" sz="1600" dirty="0" smtClean="0"/>
              <a:t>создания приложения для предметной области </a:t>
            </a:r>
            <a:r>
              <a:rPr lang="ru-RU" sz="1600" smtClean="0"/>
              <a:t>производственной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smtClean="0"/>
              <a:t>Перед </a:t>
            </a:r>
            <a:r>
              <a:rPr lang="ru-RU" sz="1600" dirty="0"/>
              <a:t>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Принял(а</a:t>
            </a:r>
            <a:r>
              <a:rPr lang="ru-RU" sz="1600" dirty="0"/>
              <a:t>) 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Ознакомил(а)</a:t>
            </a:r>
            <a:r>
              <a:rPr lang="ru-RU" sz="1600" dirty="0" err="1" smtClean="0"/>
              <a:t>сь</a:t>
            </a:r>
            <a:r>
              <a:rPr lang="ru-RU" sz="1600" dirty="0" smtClean="0"/>
              <a:t> </a:t>
            </a:r>
            <a:r>
              <a:rPr lang="ru-RU" sz="1600" dirty="0"/>
              <a:t>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Уточнил(а</a:t>
            </a:r>
            <a:r>
              <a:rPr lang="ru-RU" sz="1600" dirty="0"/>
              <a:t>) контакты руководителя практики от </a:t>
            </a:r>
            <a:r>
              <a:rPr lang="ru-RU" sz="1600" dirty="0" smtClean="0"/>
              <a:t>Образовательной </a:t>
            </a:r>
            <a:r>
              <a:rPr lang="ru-RU" sz="1600" dirty="0"/>
              <a:t>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Требования к внешнему виду: </a:t>
            </a:r>
            <a:r>
              <a:rPr lang="ru-RU" sz="1600" dirty="0"/>
              <a:t>опрятная одежда в деловом стиле, сменная обувь, отсутствие яркого макияжа и аксессуаров.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 smtClean="0"/>
              <a:t>Круг </a:t>
            </a:r>
            <a:r>
              <a:rPr lang="ru-RU" sz="1600" dirty="0"/>
              <a:t>обязанностей: </a:t>
            </a:r>
            <a:r>
              <a:rPr lang="ru-RU" sz="1600" dirty="0"/>
              <a:t>установка и настройка программного обеспечения, ведение учета лицензий, техническая поддержка пользователей, помощь в администрировании компьютерной техники.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Доступ к данным: </a:t>
            </a:r>
            <a:r>
              <a:rPr lang="ru-RU" sz="1600" dirty="0"/>
              <a:t>предоставлен доступ к рабочей станции отдела ИТ, внутренней документации и справочным материалам предприятия, а также к тестовой базе данных для разработки программного модуля.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xmlns="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  <a:endParaRPr lang="ru-RU" b="0" dirty="0" smtClean="0">
              <a:solidFill>
                <a:srgbClr val="E60000"/>
              </a:solidFill>
            </a:endParaRPr>
          </a:p>
          <a:p>
            <a:r>
              <a:rPr lang="ru-RU" b="0" dirty="0" smtClean="0">
                <a:solidFill>
                  <a:srgbClr val="E60000"/>
                </a:solidFill>
              </a:rPr>
              <a:t>техники </a:t>
            </a:r>
            <a:r>
              <a:rPr lang="ru-RU" b="0" dirty="0">
                <a:solidFill>
                  <a:srgbClr val="E60000"/>
                </a:solidFill>
              </a:rPr>
              <a:t>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Техника безопасности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237832"/>
            <a:ext cx="9824904" cy="334915"/>
          </a:xfrm>
        </p:spPr>
        <p:txBody>
          <a:bodyPr>
            <a:noAutofit/>
          </a:bodyPr>
          <a:lstStyle/>
          <a:p>
            <a:r>
              <a:rPr lang="ru-RU" sz="1700" b="0" dirty="0">
                <a:solidFill>
                  <a:srgbClr val="E60000"/>
                </a:solidFill>
              </a:rPr>
              <a:t>Инструкция по охране труда. Инструкции по технике безопасности и </a:t>
            </a:r>
            <a:r>
              <a:rPr lang="ru-RU" sz="1700" b="0" dirty="0" err="1">
                <a:solidFill>
                  <a:srgbClr val="E60000"/>
                </a:solidFill>
              </a:rPr>
              <a:t>пожароопасности</a:t>
            </a:r>
            <a:r>
              <a:rPr lang="ru-RU" sz="1700" b="0" dirty="0">
                <a:solidFill>
                  <a:srgbClr val="E60000"/>
                </a:solidFill>
              </a:rPr>
              <a:t>. Меры по обеспечению безопасности при работе с компьютерной техникой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51427" y="3972381"/>
            <a:ext cx="94586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Техника безопасности при работе с компьютерной техникой включает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Инструкцию по охране труда, инструкции по технике безопасности и </a:t>
            </a:r>
            <a:r>
              <a:rPr lang="ru-RU" sz="2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пожароопасности</a:t>
            </a:r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, а также меры по обеспечению безопасности при работе с компьютерной техникой</a:t>
            </a:r>
            <a:r>
              <a:rPr lang="ru-RU" sz="2000" dirty="0" smtClean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Основные требования: правильная организация рабочего места, расстояние до монитора не менее 50 см, перерыв каждые 45 минут, запрет на работу с неисправным оборудованием, запрет на самостоятельное вскрытие системного блока.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28" y="2060365"/>
            <a:ext cx="1902117" cy="18862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404" y="2196456"/>
            <a:ext cx="2144009" cy="175017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770" y="2196456"/>
            <a:ext cx="2398178" cy="175017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996" y="2268464"/>
            <a:ext cx="1902117" cy="167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92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Краткая технико-экономическая характеристика объекта практики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51428" y="4356695"/>
            <a:ext cx="86195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Краткая технико-экономическая характеристика объекта </a:t>
            </a:r>
            <a:r>
              <a:rPr lang="ru-RU" dirty="0" smtClean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практики</a:t>
            </a:r>
            <a:endParaRPr lang="ru-RU" dirty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АО «Концерн КЭМЗ» (</a:t>
            </a:r>
            <a:r>
              <a:rPr lang="ru-RU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Кизлярский</a:t>
            </a:r>
            <a:r>
              <a:rPr lang="ru-RU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электромеханический завод) — крупное промышленное предприятие по производству электротехнического оборудования. На предприятии работает несколько сотен сотрудников, используется большое количество компьютерной техники и программного обеспечения.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72" y="2196455"/>
            <a:ext cx="4304249" cy="1728191"/>
          </a:xfrm>
          <a:prstGeom prst="rect">
            <a:avLst/>
          </a:prstGeom>
        </p:spPr>
      </p:pic>
      <p:pic>
        <p:nvPicPr>
          <p:cNvPr id="2050" name="Picture 2" descr="C:\Users\rpk20\Downloads\i (1)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668" y="2196455"/>
            <a:ext cx="4464496" cy="172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28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технических средств подразделения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2164" y="4356695"/>
            <a:ext cx="96490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Состав технических средств </a:t>
            </a:r>
            <a:r>
              <a:rPr lang="ru-RU" dirty="0" smtClean="0">
                <a:ea typeface="Times New Roman" panose="02020603050405020304" pitchFamily="18" charset="0"/>
              </a:rPr>
              <a:t>подразделения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В отделе ИТ используются: рабочие станции на базе </a:t>
            </a:r>
            <a:r>
              <a:rPr lang="ru-RU" dirty="0" err="1">
                <a:ea typeface="Times New Roman" panose="02020603050405020304" pitchFamily="18" charset="0"/>
              </a:rPr>
              <a:t>Intel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Core</a:t>
            </a:r>
            <a:r>
              <a:rPr lang="ru-RU" dirty="0">
                <a:ea typeface="Times New Roman" panose="02020603050405020304" pitchFamily="18" charset="0"/>
              </a:rPr>
              <a:t> i5/i7 с 16-32 ГБ ОЗУ и SSD-накопителями, серверное оборудование под управлением </a:t>
            </a:r>
            <a:r>
              <a:rPr lang="ru-RU" dirty="0" err="1">
                <a:ea typeface="Times New Roman" panose="02020603050405020304" pitchFamily="18" charset="0"/>
              </a:rPr>
              <a:t>Windows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Server</a:t>
            </a:r>
            <a:r>
              <a:rPr lang="ru-RU" dirty="0">
                <a:ea typeface="Times New Roman" panose="02020603050405020304" pitchFamily="18" charset="0"/>
              </a:rPr>
              <a:t>, сетевое оборудование </a:t>
            </a:r>
            <a:r>
              <a:rPr lang="ru-RU" dirty="0" err="1">
                <a:ea typeface="Times New Roman" panose="02020603050405020304" pitchFamily="18" charset="0"/>
              </a:rPr>
              <a:t>Cisco</a:t>
            </a:r>
            <a:r>
              <a:rPr lang="ru-RU" dirty="0">
                <a:ea typeface="Times New Roman" panose="02020603050405020304" pitchFamily="18" charset="0"/>
              </a:rPr>
              <a:t> и D-</a:t>
            </a:r>
            <a:r>
              <a:rPr lang="ru-RU" dirty="0" err="1">
                <a:ea typeface="Times New Roman" panose="02020603050405020304" pitchFamily="18" charset="0"/>
              </a:rPr>
              <a:t>Link</a:t>
            </a:r>
            <a:r>
              <a:rPr lang="ru-RU" dirty="0">
                <a:ea typeface="Times New Roman" panose="02020603050405020304" pitchFamily="18" charset="0"/>
              </a:rPr>
              <a:t>, принтеры, МФУ и сканеры.</a:t>
            </a:r>
            <a:endParaRPr lang="ru-RU" dirty="0"/>
          </a:p>
        </p:txBody>
      </p:sp>
      <p:pic>
        <p:nvPicPr>
          <p:cNvPr id="3074" name="Picture 2" descr="C:\Users\rpk20\Downloads\макет-современного-офисного-стола-с-монитором-клавиатурный-ручка-и-284356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2052439"/>
            <a:ext cx="2801888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pk20\Downloads\i (2).jf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644" y="2052439"/>
            <a:ext cx="2801888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3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3717" y="1303113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программного обеспечения и тематика решаемых задач структурным подразделением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50156" y="5004767"/>
            <a:ext cx="964907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Состав программного обеспечения </a:t>
            </a:r>
            <a:r>
              <a:rPr lang="ru-RU" dirty="0" smtClean="0">
                <a:ea typeface="Times New Roman" panose="02020603050405020304" pitchFamily="18" charset="0"/>
              </a:rPr>
              <a:t>подразделения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В подразделении используется: </a:t>
            </a:r>
            <a:r>
              <a:rPr lang="en-US" dirty="0">
                <a:ea typeface="Times New Roman" panose="02020603050405020304" pitchFamily="18" charset="0"/>
              </a:rPr>
              <a:t>Windows 10/11, Windows Server, Microsoft Office 365, 1</a:t>
            </a:r>
            <a:r>
              <a:rPr lang="ru-RU" dirty="0">
                <a:ea typeface="Times New Roman" panose="02020603050405020304" pitchFamily="18" charset="0"/>
              </a:rPr>
              <a:t>С:Предприятие, Компас-3</a:t>
            </a:r>
            <a:r>
              <a:rPr lang="en-US" dirty="0">
                <a:ea typeface="Times New Roman" panose="02020603050405020304" pitchFamily="18" charset="0"/>
              </a:rPr>
              <a:t>D, Visual Studio 2026, </a:t>
            </a:r>
            <a:r>
              <a:rPr lang="en-US" dirty="0" err="1">
                <a:ea typeface="Times New Roman" panose="02020603050405020304" pitchFamily="18" charset="0"/>
              </a:rPr>
              <a:t>Git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GitHub</a:t>
            </a:r>
            <a:r>
              <a:rPr lang="en-US" dirty="0">
                <a:ea typeface="Times New Roman" panose="02020603050405020304" pitchFamily="18" charset="0"/>
              </a:rPr>
              <a:t> Desktop.</a:t>
            </a:r>
            <a:endParaRPr lang="ru-RU" dirty="0"/>
          </a:p>
        </p:txBody>
      </p:sp>
      <p:pic>
        <p:nvPicPr>
          <p:cNvPr id="4098" name="Picture 2" descr="C:\Users\rpk20\Downloads\i (3).jf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2124447"/>
            <a:ext cx="4752528" cy="28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4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Анализ требований к разрабатываемому программному модулю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1226" y="1980431"/>
            <a:ext cx="97198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Анализ требований к разрабатываемому программному </a:t>
            </a:r>
            <a:r>
              <a:rPr lang="ru-RU" dirty="0" smtClean="0">
                <a:ea typeface="Times New Roman" panose="02020603050405020304" pitchFamily="18" charset="0"/>
              </a:rPr>
              <a:t>модулю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Функциональные требования: добавление, редактирование, удаление записей, поиск по базе данных, отображение всех записей, автоматическое сохранение в JSON</a:t>
            </a:r>
            <a:r>
              <a:rPr lang="ru-RU" dirty="0" smtClean="0"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smtClean="0">
                <a:ea typeface="Times New Roman" panose="02020603050405020304" pitchFamily="18" charset="0"/>
              </a:rPr>
              <a:t>Нефункциональные </a:t>
            </a:r>
            <a:r>
              <a:rPr lang="ru-RU" dirty="0">
                <a:ea typeface="Times New Roman" panose="02020603050405020304" pitchFamily="18" charset="0"/>
              </a:rPr>
              <a:t>требования: интуитивно понятный интерфейс, быстродействие (менее 1 секунды), работа без интернета.</a:t>
            </a:r>
            <a:endParaRPr lang="ru-RU" b="1" i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4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функциональной спецификации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3436" y="4356695"/>
            <a:ext cx="94986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Описание функциональной спецификации </a:t>
            </a:r>
            <a:r>
              <a:rPr lang="ru-RU" dirty="0" smtClean="0">
                <a:ea typeface="Times New Roman" panose="02020603050405020304" pitchFamily="18" charset="0"/>
              </a:rPr>
              <a:t>модуля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Библиотека классов </a:t>
            </a:r>
            <a:r>
              <a:rPr lang="ru-RU" dirty="0" err="1">
                <a:ea typeface="Times New Roman" panose="02020603050405020304" pitchFamily="18" charset="0"/>
              </a:rPr>
              <a:t>SoftwareLibrary</a:t>
            </a:r>
            <a:r>
              <a:rPr lang="ru-RU" dirty="0">
                <a:ea typeface="Times New Roman" panose="02020603050405020304" pitchFamily="18" charset="0"/>
              </a:rPr>
              <a:t> реализует методы: </a:t>
            </a:r>
            <a:r>
              <a:rPr lang="ru-RU" dirty="0" err="1">
                <a:ea typeface="Times New Roman" panose="02020603050405020304" pitchFamily="18" charset="0"/>
              </a:rPr>
              <a:t>GetAll</a:t>
            </a:r>
            <a:r>
              <a:rPr lang="ru-RU" dirty="0">
                <a:ea typeface="Times New Roman" panose="02020603050405020304" pitchFamily="18" charset="0"/>
              </a:rPr>
              <a:t> (получить все записи), </a:t>
            </a:r>
            <a:r>
              <a:rPr lang="ru-RU" dirty="0" err="1">
                <a:ea typeface="Times New Roman" panose="02020603050405020304" pitchFamily="18" charset="0"/>
              </a:rPr>
              <a:t>GetById</a:t>
            </a:r>
            <a:r>
              <a:rPr lang="ru-RU" dirty="0">
                <a:ea typeface="Times New Roman" panose="02020603050405020304" pitchFamily="18" charset="0"/>
              </a:rPr>
              <a:t> (получить по ID), </a:t>
            </a:r>
            <a:r>
              <a:rPr lang="ru-RU" dirty="0" err="1">
                <a:ea typeface="Times New Roman" panose="02020603050405020304" pitchFamily="18" charset="0"/>
              </a:rPr>
              <a:t>Add</a:t>
            </a:r>
            <a:r>
              <a:rPr lang="ru-RU" dirty="0">
                <a:ea typeface="Times New Roman" panose="02020603050405020304" pitchFamily="18" charset="0"/>
              </a:rPr>
              <a:t> (добавить), </a:t>
            </a:r>
            <a:r>
              <a:rPr lang="ru-RU" dirty="0" err="1">
                <a:ea typeface="Times New Roman" panose="02020603050405020304" pitchFamily="18" charset="0"/>
              </a:rPr>
              <a:t>Update</a:t>
            </a:r>
            <a:r>
              <a:rPr lang="ru-RU" dirty="0">
                <a:ea typeface="Times New Roman" panose="02020603050405020304" pitchFamily="18" charset="0"/>
              </a:rPr>
              <a:t> (обновить), </a:t>
            </a:r>
            <a:r>
              <a:rPr lang="ru-RU" dirty="0" err="1">
                <a:ea typeface="Times New Roman" panose="02020603050405020304" pitchFamily="18" charset="0"/>
              </a:rPr>
              <a:t>Delete</a:t>
            </a:r>
            <a:r>
              <a:rPr lang="ru-RU" dirty="0">
                <a:ea typeface="Times New Roman" panose="02020603050405020304" pitchFamily="18" charset="0"/>
              </a:rPr>
              <a:t> (удалить), </a:t>
            </a:r>
            <a:r>
              <a:rPr lang="ru-RU" dirty="0" err="1">
                <a:ea typeface="Times New Roman" panose="02020603050405020304" pitchFamily="18" charset="0"/>
              </a:rPr>
              <a:t>Search</a:t>
            </a:r>
            <a:r>
              <a:rPr lang="ru-RU" dirty="0">
                <a:ea typeface="Times New Roman" panose="02020603050405020304" pitchFamily="18" charset="0"/>
              </a:rPr>
              <a:t> (поиск</a:t>
            </a:r>
            <a:r>
              <a:rPr lang="ru-RU" dirty="0" smtClean="0">
                <a:ea typeface="Times New Roman" panose="02020603050405020304" pitchFamily="18" charset="0"/>
              </a:rPr>
              <a:t>).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Библиотека взаимодействует с WPF-приложением и использует JSON-файл для хранения данных.</a:t>
            </a:r>
            <a:endParaRPr lang="ru-RU" b="1" i="1" dirty="0">
              <a:ea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1908423"/>
            <a:ext cx="5010150" cy="223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158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синтаксической спецификации входа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8148" y="4356695"/>
            <a:ext cx="979308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Описание синтаксической спецификации входа </a:t>
            </a:r>
            <a:r>
              <a:rPr lang="ru-RU" dirty="0" smtClean="0">
                <a:ea typeface="Times New Roman" panose="02020603050405020304" pitchFamily="18" charset="0"/>
              </a:rPr>
              <a:t>модуля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При добавлении записи вводятся: название ПО, версия, тип лицензии, производитель, дата покупки, стоимость, ответственный, количество пользователей, дата окончания лицензии, примечания</a:t>
            </a:r>
            <a:r>
              <a:rPr lang="ru-RU" dirty="0" smtClean="0">
                <a:ea typeface="Times New Roman" panose="02020603050405020304" pitchFamily="18" charset="0"/>
              </a:rPr>
              <a:t>.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Обязательные поля: название, версия, тип лицензии.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1908421"/>
            <a:ext cx="5449859" cy="252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5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r>
              <a:rPr lang="ru-RU" sz="1600" b="0" dirty="0"/>
              <a:t>Описание структуры данных модуля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2164" y="4860751"/>
            <a:ext cx="94330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Описание структуры данных </a:t>
            </a:r>
            <a:r>
              <a:rPr lang="ru-RU" dirty="0" smtClean="0">
                <a:ea typeface="Times New Roman" panose="02020603050405020304" pitchFamily="18" charset="0"/>
              </a:rPr>
              <a:t>модуля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Класс </a:t>
            </a:r>
            <a:r>
              <a:rPr lang="en-US" dirty="0">
                <a:ea typeface="Times New Roman" panose="02020603050405020304" pitchFamily="18" charset="0"/>
              </a:rPr>
              <a:t>Software </a:t>
            </a:r>
            <a:r>
              <a:rPr lang="ru-RU" dirty="0">
                <a:ea typeface="Times New Roman" panose="02020603050405020304" pitchFamily="18" charset="0"/>
              </a:rPr>
              <a:t>содержит поля: </a:t>
            </a:r>
            <a:r>
              <a:rPr lang="en-US" dirty="0">
                <a:ea typeface="Times New Roman" panose="02020603050405020304" pitchFamily="18" charset="0"/>
              </a:rPr>
              <a:t>Id, Name, Version, </a:t>
            </a:r>
            <a:r>
              <a:rPr lang="en-US" dirty="0" err="1">
                <a:ea typeface="Times New Roman" panose="02020603050405020304" pitchFamily="18" charset="0"/>
              </a:rPr>
              <a:t>LicenseType</a:t>
            </a:r>
            <a:r>
              <a:rPr lang="en-US" dirty="0">
                <a:ea typeface="Times New Roman" panose="02020603050405020304" pitchFamily="18" charset="0"/>
              </a:rPr>
              <a:t>, Manufacturer, </a:t>
            </a:r>
            <a:r>
              <a:rPr lang="en-US" dirty="0" err="1">
                <a:ea typeface="Times New Roman" panose="02020603050405020304" pitchFamily="18" charset="0"/>
              </a:rPr>
              <a:t>PurchaseDate</a:t>
            </a:r>
            <a:r>
              <a:rPr lang="en-US" dirty="0">
                <a:ea typeface="Times New Roman" panose="02020603050405020304" pitchFamily="18" charset="0"/>
              </a:rPr>
              <a:t>, Cost, </a:t>
            </a:r>
            <a:r>
              <a:rPr lang="en-US" dirty="0" err="1">
                <a:ea typeface="Times New Roman" panose="02020603050405020304" pitchFamily="18" charset="0"/>
              </a:rPr>
              <a:t>ResponsiblePerson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UserCount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ExpirationDate</a:t>
            </a:r>
            <a:r>
              <a:rPr lang="en-US" dirty="0">
                <a:ea typeface="Times New Roman" panose="02020603050405020304" pitchFamily="18" charset="0"/>
              </a:rPr>
              <a:t>, Notes</a:t>
            </a:r>
            <a:r>
              <a:rPr lang="en-US" dirty="0" smtClean="0">
                <a:ea typeface="Times New Roman" panose="02020603050405020304" pitchFamily="18" charset="0"/>
              </a:rPr>
              <a:t>.</a:t>
            </a:r>
            <a:endParaRPr lang="en-US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Данные хранятся в файле </a:t>
            </a:r>
            <a:r>
              <a:rPr lang="en-US" dirty="0" err="1">
                <a:ea typeface="Times New Roman" panose="02020603050405020304" pitchFamily="18" charset="0"/>
              </a:rPr>
              <a:t>software.json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ru-RU" dirty="0">
                <a:ea typeface="Times New Roman" panose="02020603050405020304" pitchFamily="18" charset="0"/>
              </a:rPr>
              <a:t>в формате </a:t>
            </a:r>
            <a:r>
              <a:rPr lang="en-US" dirty="0">
                <a:ea typeface="Times New Roman" panose="02020603050405020304" pitchFamily="18" charset="0"/>
              </a:rPr>
              <a:t>JSON.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1908423"/>
            <a:ext cx="491490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59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Выбор языка программирования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</a:t>
            </a:r>
            <a:r>
              <a:rPr lang="ru-RU" dirty="0"/>
              <a:t>Язык программирования C# (платформа .NET 8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dirty="0"/>
              <a:t>2. </a:t>
            </a:r>
            <a:r>
              <a:rPr lang="ru-RU" dirty="0"/>
              <a:t>Технология WPF (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Presentation</a:t>
            </a:r>
            <a:r>
              <a:rPr lang="ru-RU" dirty="0"/>
              <a:t> </a:t>
            </a:r>
            <a:r>
              <a:rPr lang="ru-RU" dirty="0" err="1"/>
              <a:t>Foundation</a:t>
            </a:r>
            <a:r>
              <a:rPr lang="ru-RU" dirty="0"/>
              <a:t>) для создания пользовательского </a:t>
            </a:r>
            <a:r>
              <a:rPr lang="ru-RU" dirty="0" smtClean="0"/>
              <a:t>интерфейса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0469" y="4669378"/>
            <a:ext cx="10081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Выбор языка </a:t>
            </a:r>
            <a:r>
              <a:rPr lang="ru-RU" dirty="0" smtClean="0">
                <a:ea typeface="Times New Roman" panose="02020603050405020304" pitchFamily="18" charset="0"/>
              </a:rPr>
              <a:t>программирования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1. C# (.NET 8) — мощный объектно-ориентированный язык.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2. WPF — платформа для создания современных интерфейсов на XAML.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3. </a:t>
            </a:r>
            <a:r>
              <a:rPr lang="ru-RU" dirty="0" err="1">
                <a:ea typeface="Times New Roman" panose="02020603050405020304" pitchFamily="18" charset="0"/>
              </a:rPr>
              <a:t>System.Text.Json</a:t>
            </a:r>
            <a:r>
              <a:rPr lang="ru-RU" dirty="0">
                <a:ea typeface="Times New Roman" panose="02020603050405020304" pitchFamily="18" charset="0"/>
              </a:rPr>
              <a:t> — встроенная библиотека для работы с JSON.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4. </a:t>
            </a:r>
            <a:r>
              <a:rPr lang="ru-RU" dirty="0" err="1">
                <a:ea typeface="Times New Roman" panose="02020603050405020304" pitchFamily="18" charset="0"/>
              </a:rPr>
              <a:t>Visual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Studio</a:t>
            </a:r>
            <a:r>
              <a:rPr lang="ru-RU" dirty="0">
                <a:ea typeface="Times New Roman" panose="02020603050405020304" pitchFamily="18" charset="0"/>
              </a:rPr>
              <a:t> 2026 — среда разработки.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5. </a:t>
            </a:r>
            <a:r>
              <a:rPr lang="ru-RU" dirty="0" err="1">
                <a:ea typeface="Times New Roman" panose="02020603050405020304" pitchFamily="18" charset="0"/>
              </a:rPr>
              <a:t>Git</a:t>
            </a:r>
            <a:r>
              <a:rPr lang="ru-RU" dirty="0">
                <a:ea typeface="Times New Roman" panose="02020603050405020304" pitchFamily="18" charset="0"/>
              </a:rPr>
              <a:t> и </a:t>
            </a:r>
            <a:r>
              <a:rPr lang="ru-RU" dirty="0" err="1">
                <a:ea typeface="Times New Roman" panose="02020603050405020304" pitchFamily="18" charset="0"/>
              </a:rPr>
              <a:t>GitHub</a:t>
            </a:r>
            <a:r>
              <a:rPr lang="ru-RU" dirty="0">
                <a:ea typeface="Times New Roman" panose="02020603050405020304" pitchFamily="18" charset="0"/>
              </a:rPr>
              <a:t> — контроль версий.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8194" name="Picture 2" descr="i"/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420" y="2970252"/>
            <a:ext cx="2162175" cy="153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Picture 1" descr="WPF-Application-Development_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4" y="2719539"/>
            <a:ext cx="2162175" cy="194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6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Программирование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 Для </a:t>
            </a:r>
            <a:r>
              <a:rPr lang="ru-RU" dirty="0"/>
              <a:t>начала необходимо запустить 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2026, затем создать новый проект, нажав Файл → Создать → Проект</a:t>
            </a:r>
          </a:p>
          <a:p>
            <a:r>
              <a:rPr lang="ru-RU" dirty="0" smtClean="0"/>
              <a:t>2. Далее </a:t>
            </a:r>
            <a:r>
              <a:rPr lang="ru-RU" dirty="0"/>
              <a:t>появится диалоговое окно, в котором необходимо выбрать шаблон «WPF приложение (.NET 8)» и указать имя проекта </a:t>
            </a:r>
            <a:r>
              <a:rPr lang="ru-RU" dirty="0" err="1"/>
              <a:t>SoftwareAccountingApp</a:t>
            </a:r>
            <a:endParaRPr lang="ru-RU" dirty="0"/>
          </a:p>
          <a:p>
            <a:r>
              <a:rPr lang="ru-RU" dirty="0" smtClean="0"/>
              <a:t>3. После </a:t>
            </a:r>
            <a:r>
              <a:rPr lang="ru-RU" dirty="0"/>
              <a:t>создания проекта добавляется ссылка на библиотеку классов </a:t>
            </a:r>
            <a:r>
              <a:rPr lang="ru-RU" dirty="0" err="1"/>
              <a:t>SoftwareLibrary</a:t>
            </a:r>
            <a:r>
              <a:rPr lang="ru-RU" dirty="0"/>
              <a:t> и разрабатывается пользовательский интерфейс на XAML с элементами </a:t>
            </a:r>
            <a:r>
              <a:rPr lang="ru-RU" dirty="0" err="1"/>
              <a:t>TextBox</a:t>
            </a:r>
            <a:r>
              <a:rPr lang="ru-RU" dirty="0"/>
              <a:t>, </a:t>
            </a:r>
            <a:r>
              <a:rPr lang="ru-RU" dirty="0" err="1"/>
              <a:t>ComboBox</a:t>
            </a:r>
            <a:r>
              <a:rPr lang="ru-RU" dirty="0"/>
              <a:t>, </a:t>
            </a:r>
            <a:r>
              <a:rPr lang="ru-RU" dirty="0" err="1"/>
              <a:t>DatePicker</a:t>
            </a:r>
            <a:r>
              <a:rPr lang="ru-RU" dirty="0"/>
              <a:t>, </a:t>
            </a:r>
            <a:r>
              <a:rPr lang="ru-RU" dirty="0" err="1"/>
              <a:t>DataGrid</a:t>
            </a:r>
            <a:r>
              <a:rPr lang="ru-RU" dirty="0"/>
              <a:t> и </a:t>
            </a:r>
            <a:r>
              <a:rPr lang="ru-RU" dirty="0" err="1"/>
              <a:t>Button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3974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Компиляция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Для начала необходимо </a:t>
            </a:r>
            <a:r>
              <a:rPr lang="ru-RU" dirty="0" smtClean="0"/>
              <a:t>запустить</a:t>
            </a:r>
            <a:r>
              <a:rPr lang="ru-RU" dirty="0" smtClean="0"/>
              <a:t> </a:t>
            </a:r>
            <a:r>
              <a:rPr lang="en-US" dirty="0"/>
              <a:t>Visual Studio 2026 и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SoftwareAccountingSolution</a:t>
            </a:r>
            <a:endParaRPr lang="ru-RU" dirty="0"/>
          </a:p>
          <a:p>
            <a:r>
              <a:rPr lang="ru-RU" dirty="0"/>
              <a:t>2. </a:t>
            </a:r>
            <a:r>
              <a:rPr lang="ru-RU" dirty="0"/>
              <a:t>Далее в меню выбрать «Сборка» → «Собрать решение» или нажать клавишу F6 на </a:t>
            </a:r>
            <a:r>
              <a:rPr lang="ru-RU" dirty="0" smtClean="0"/>
              <a:t>клавиатуре</a:t>
            </a:r>
            <a:endParaRPr lang="ru-RU" dirty="0" smtClean="0"/>
          </a:p>
          <a:p>
            <a:r>
              <a:rPr lang="ru-RU" dirty="0" smtClean="0"/>
              <a:t>3</a:t>
            </a:r>
            <a:r>
              <a:rPr lang="ru-RU" dirty="0"/>
              <a:t>. </a:t>
            </a:r>
            <a:r>
              <a:rPr lang="ru-RU" dirty="0"/>
              <a:t>После успешной компиляции в окне «Вывод» появится сообщение: «Сборка успешно завершена», а в папке </a:t>
            </a:r>
            <a:r>
              <a:rPr lang="en-US" dirty="0"/>
              <a:t>bin/Debug </a:t>
            </a:r>
            <a:r>
              <a:rPr lang="ru-RU" dirty="0"/>
              <a:t>создаются исполняемый файл </a:t>
            </a:r>
            <a:r>
              <a:rPr lang="en-US" dirty="0"/>
              <a:t>SoftwareAccountingApp.exe </a:t>
            </a:r>
            <a:r>
              <a:rPr lang="ru-RU" dirty="0"/>
              <a:t>и библиотека </a:t>
            </a:r>
            <a:r>
              <a:rPr lang="en-US" dirty="0"/>
              <a:t>SoftwareLibrary.dll</a:t>
            </a:r>
          </a:p>
          <a:p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2741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Отладка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Для начала необходимо </a:t>
            </a:r>
            <a:r>
              <a:rPr lang="ru-RU" dirty="0" smtClean="0"/>
              <a:t>запустить </a:t>
            </a:r>
            <a:r>
              <a:rPr lang="en-US" dirty="0"/>
              <a:t>Visual Studio 2026 </a:t>
            </a:r>
            <a:r>
              <a:rPr lang="ru-RU" dirty="0"/>
              <a:t>и открыть проект </a:t>
            </a:r>
            <a:r>
              <a:rPr lang="en-US" dirty="0" err="1"/>
              <a:t>SoftwareAccountingSolution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2. Далее </a:t>
            </a:r>
            <a:r>
              <a:rPr lang="ru-RU" dirty="0" smtClean="0"/>
              <a:t>установить </a:t>
            </a:r>
            <a:r>
              <a:rPr lang="ru-RU" dirty="0"/>
              <a:t>точку останова (</a:t>
            </a:r>
            <a:r>
              <a:rPr lang="ru-RU" dirty="0" err="1"/>
              <a:t>Breakpoint</a:t>
            </a:r>
            <a:r>
              <a:rPr lang="ru-RU" dirty="0"/>
              <a:t>) в коде </a:t>
            </a:r>
            <a:r>
              <a:rPr lang="ru-RU" dirty="0" err="1"/>
              <a:t>MainWindow.xaml.cs</a:t>
            </a:r>
            <a:r>
              <a:rPr lang="ru-RU" dirty="0"/>
              <a:t>, например, в начале метода добавления записи.</a:t>
            </a:r>
          </a:p>
          <a:p>
            <a:r>
              <a:rPr lang="ru-RU" dirty="0" smtClean="0"/>
              <a:t>3</a:t>
            </a:r>
            <a:r>
              <a:rPr lang="ru-RU" dirty="0"/>
              <a:t>. В </a:t>
            </a:r>
            <a:r>
              <a:rPr lang="ru-RU" dirty="0"/>
              <a:t>режиме отладки нажать F5 (или кнопку «Отладка → Начать отладку») и выполнить добавляющую запись операцию – выполнение программы остановится на отмеченной строке, что позволит отследить значения переменных в окнах «Локальные» и «Контрольные значения».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96"/>
          <a:stretch/>
        </p:blipFill>
        <p:spPr bwMode="auto">
          <a:xfrm>
            <a:off x="666180" y="4644727"/>
            <a:ext cx="576064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3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Разработка тестовых сценариев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2124" y="1908423"/>
            <a:ext cx="102251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Разработка тестовых </a:t>
            </a:r>
            <a:r>
              <a:rPr lang="ru-RU" dirty="0" smtClean="0">
                <a:ea typeface="Times New Roman" panose="02020603050405020304" pitchFamily="18" charset="0"/>
              </a:rPr>
              <a:t>сценариев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1. Добавление ПО с заполнением всех полей.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2. Добавление с пустым названием (ошибка).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3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Удаление записи с подтверждением.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4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Поиск по названию или производителю.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5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Закрытие и открытие программы (сохранность данных).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56" y="3939747"/>
            <a:ext cx="3248050" cy="236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204" y="3939748"/>
            <a:ext cx="2466975" cy="236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860" y="3939748"/>
            <a:ext cx="3024336" cy="1180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860" y="5220791"/>
            <a:ext cx="3024336" cy="108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95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Модульное тестирование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8148" y="1980431"/>
            <a:ext cx="97930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Проверка работоспособности </a:t>
            </a:r>
            <a:r>
              <a:rPr lang="ru-RU" dirty="0" smtClean="0">
                <a:ea typeface="Times New Roman" panose="02020603050405020304" pitchFamily="18" charset="0"/>
              </a:rPr>
              <a:t>приложения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Программа запущена, добавлено </a:t>
            </a:r>
            <a:r>
              <a:rPr lang="ru-RU" dirty="0" smtClean="0">
                <a:ea typeface="Times New Roman" panose="02020603050405020304" pitchFamily="18" charset="0"/>
              </a:rPr>
              <a:t>3 </a:t>
            </a:r>
            <a:r>
              <a:rPr lang="ru-RU" dirty="0">
                <a:ea typeface="Times New Roman" panose="02020603050405020304" pitchFamily="18" charset="0"/>
              </a:rPr>
              <a:t>тестовых записей, выполнены поиск</a:t>
            </a:r>
            <a:r>
              <a:rPr lang="ru-RU" dirty="0" smtClean="0">
                <a:ea typeface="Times New Roman" panose="02020603050405020304" pitchFamily="18" charset="0"/>
              </a:rPr>
              <a:t>, </a:t>
            </a:r>
            <a:r>
              <a:rPr lang="ru-RU" dirty="0">
                <a:ea typeface="Times New Roman" panose="02020603050405020304" pitchFamily="18" charset="0"/>
              </a:rPr>
              <a:t>и удаление. Данные сохранились в </a:t>
            </a:r>
            <a:r>
              <a:rPr lang="ru-RU" dirty="0" err="1">
                <a:ea typeface="Times New Roman" panose="02020603050405020304" pitchFamily="18" charset="0"/>
              </a:rPr>
              <a:t>software.json</a:t>
            </a:r>
            <a:r>
              <a:rPr lang="ru-RU" dirty="0">
                <a:ea typeface="Times New Roman" panose="02020603050405020304" pitchFamily="18" charset="0"/>
              </a:rPr>
              <a:t> и после перезапуска программы загрузились корректно. Все функции работают без ошибок.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" y="3365426"/>
            <a:ext cx="9649073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83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Тестирование производительности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2124" y="1980431"/>
            <a:ext cx="102971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Тестирование </a:t>
            </a:r>
            <a:r>
              <a:rPr lang="ru-RU" dirty="0" smtClean="0">
                <a:ea typeface="Times New Roman" panose="02020603050405020304" pitchFamily="18" charset="0"/>
              </a:rPr>
              <a:t>производительности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При работе со 100 тестовыми записями: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загрузка данных: менее 0,1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добавление записи: менее 0,05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поиск: менее 0,1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сохранение в JSON: менее 0,05 секунды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56" y="4068663"/>
            <a:ext cx="3781425" cy="2452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7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8744" y="1213775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Загрузка программного модуля в </a:t>
            </a:r>
            <a:r>
              <a:rPr lang="ru-RU" sz="1700" b="0" dirty="0" err="1" smtClean="0"/>
              <a:t>репозиторий</a:t>
            </a:r>
            <a:r>
              <a:rPr lang="ru-RU" sz="1700" b="0" dirty="0" smtClean="0"/>
              <a:t> </a:t>
            </a:r>
            <a:r>
              <a:rPr lang="en-US" sz="1700" b="0" dirty="0" smtClean="0">
                <a:solidFill>
                  <a:srgbClr val="E60000"/>
                </a:solidFill>
              </a:rPr>
              <a:t>GitHub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2967" y="1945803"/>
            <a:ext cx="9616457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Создать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 на </a:t>
            </a:r>
            <a:r>
              <a:rPr lang="en-US" sz="1900" dirty="0" smtClean="0"/>
              <a:t>GitHu</a:t>
            </a:r>
            <a:r>
              <a:rPr lang="en-US" sz="1900" dirty="0"/>
              <a:t>b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Перейти в папку с проектами практики и инициализировать новый </a:t>
            </a:r>
            <a:r>
              <a:rPr lang="ru-RU" sz="1900" dirty="0" err="1"/>
              <a:t>репозиторий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проекты в индекс и осуществить первый </a:t>
            </a:r>
            <a:r>
              <a:rPr lang="ru-RU" sz="1900" dirty="0" err="1"/>
              <a:t>коммит</a:t>
            </a:r>
            <a:r>
              <a:rPr lang="ru-RU" sz="1900" dirty="0"/>
              <a:t> изменений</a:t>
            </a:r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локальному </a:t>
            </a:r>
            <a:r>
              <a:rPr lang="ru-RU" sz="1900" dirty="0" err="1"/>
              <a:t>репозиторию</a:t>
            </a:r>
            <a:r>
              <a:rPr lang="ru-RU" sz="1900" dirty="0"/>
              <a:t> ссылку на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, после чего сделать команду </a:t>
            </a:r>
            <a:r>
              <a:rPr lang="ru-RU" sz="1900" dirty="0" err="1"/>
              <a:t>push</a:t>
            </a:r>
            <a:r>
              <a:rPr lang="ru-RU" sz="1900" dirty="0"/>
              <a:t> в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 </a:t>
            </a:r>
            <a:r>
              <a:rPr lang="ru-RU" sz="1900" dirty="0" err="1"/>
              <a:t>git</a:t>
            </a:r>
            <a:r>
              <a:rPr lang="ru-RU" sz="1900" dirty="0"/>
              <a:t> </a:t>
            </a:r>
            <a:r>
              <a:rPr lang="ru-RU" sz="1900" dirty="0" err="1"/>
              <a:t>push</a:t>
            </a:r>
            <a:r>
              <a:rPr lang="ru-RU" sz="1900" dirty="0"/>
              <a:t> </a:t>
            </a:r>
            <a:r>
              <a:rPr lang="ru-RU" sz="1900" dirty="0" err="1"/>
              <a:t>origin</a:t>
            </a:r>
            <a:r>
              <a:rPr lang="ru-RU" sz="1900" dirty="0"/>
              <a:t> </a:t>
            </a:r>
            <a:r>
              <a:rPr lang="ru-RU" sz="1900" dirty="0" err="1"/>
              <a:t>master</a:t>
            </a:r>
            <a:r>
              <a:rPr lang="ru-RU" sz="1900" dirty="0"/>
              <a:t>, тем самым отправив локальную ветку </a:t>
            </a:r>
            <a:r>
              <a:rPr lang="ru-RU" sz="1900" dirty="0" err="1"/>
              <a:t>master</a:t>
            </a:r>
            <a:r>
              <a:rPr lang="ru-RU" sz="1900" dirty="0"/>
              <a:t> на сервер </a:t>
            </a:r>
            <a:r>
              <a:rPr lang="ru-RU" sz="1900" dirty="0" err="1"/>
              <a:t>origin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Продемонстрировать добавленные файлы на </a:t>
            </a:r>
            <a:r>
              <a:rPr lang="en-US" sz="1900" dirty="0" smtClean="0"/>
              <a:t>GitHub</a:t>
            </a:r>
            <a:endParaRPr lang="ru-RU" sz="1900" dirty="0" smtClean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endParaRPr lang="ru-RU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234132" y="6804967"/>
            <a:ext cx="8352928" cy="41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tx1"/>
                </a:solidFill>
              </a:rPr>
              <a:t>https://github.com/Alik7711/Proizvodstvennya-Practica.git</a:t>
            </a:r>
            <a:endParaRPr lang="ru-RU" b="1" i="1" u="sng" dirty="0">
              <a:solidFill>
                <a:schemeClr val="tx1"/>
              </a:solidFill>
            </a:endParaRPr>
          </a:p>
        </p:txBody>
      </p:sp>
      <p:pic>
        <p:nvPicPr>
          <p:cNvPr id="13314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04" y="4140671"/>
            <a:ext cx="302433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Рисунок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564" y="4190272"/>
            <a:ext cx="3024336" cy="14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924" y="4165471"/>
            <a:ext cx="3024336" cy="154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67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5" y="1980431"/>
            <a:ext cx="945727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Осуществите </a:t>
            </a:r>
            <a:r>
              <a:rPr lang="ru-RU" dirty="0"/>
              <a:t>комплексный анализ результатов выполненных видов </a:t>
            </a:r>
            <a:r>
              <a:rPr lang="ru-RU" dirty="0" smtClean="0"/>
              <a:t>работ, сформулируйте выводы:</a:t>
            </a:r>
          </a:p>
          <a:p>
            <a:r>
              <a:rPr lang="ru-RU" dirty="0" smtClean="0"/>
              <a:t>1. </a:t>
            </a:r>
            <a:r>
              <a:rPr lang="ru-RU" dirty="0"/>
              <a:t>Разработана информационная система учета программного обеспечения на C# и WPF.</a:t>
            </a:r>
          </a:p>
          <a:p>
            <a:r>
              <a:rPr lang="ru-RU" dirty="0" smtClean="0"/>
              <a:t>2</a:t>
            </a:r>
            <a:r>
              <a:rPr lang="ru-RU" dirty="0" smtClean="0"/>
              <a:t>. </a:t>
            </a:r>
            <a:r>
              <a:rPr lang="ru-RU" dirty="0"/>
              <a:t>Создана библиотека классов </a:t>
            </a:r>
            <a:r>
              <a:rPr lang="ru-RU" dirty="0" err="1"/>
              <a:t>SoftwareLibrary</a:t>
            </a:r>
            <a:r>
              <a:rPr lang="ru-RU" dirty="0"/>
              <a:t> с бизнес-логикой.</a:t>
            </a:r>
            <a:endParaRPr lang="ru-RU" dirty="0" smtClean="0"/>
          </a:p>
          <a:p>
            <a:r>
              <a:rPr lang="ru-RU" dirty="0" smtClean="0"/>
              <a:t>3. </a:t>
            </a:r>
            <a:r>
              <a:rPr lang="ru-RU" dirty="0"/>
              <a:t>Реализованы функции добавления, редактирования, удаления, поиска и сохранения в JSON.</a:t>
            </a:r>
            <a:endParaRPr lang="ru-RU" dirty="0" smtClean="0"/>
          </a:p>
          <a:p>
            <a:r>
              <a:rPr lang="ru-RU" dirty="0" smtClean="0"/>
              <a:t>4. </a:t>
            </a:r>
            <a:r>
              <a:rPr lang="ru-RU" dirty="0"/>
              <a:t>Приложение протестировано, работает стабильно и готово к использованию.</a:t>
            </a:r>
            <a:endParaRPr lang="ru-RU" dirty="0" smtClean="0"/>
          </a:p>
          <a:p>
            <a:r>
              <a:rPr lang="ru-RU" dirty="0" smtClean="0"/>
              <a:t>5. </a:t>
            </a:r>
            <a:r>
              <a:rPr lang="ru-RU" dirty="0"/>
              <a:t>Цели и задачи производственной практики выполнены в полном объеме.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 smtClean="0"/>
              <a:t>Список используемой литературы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i="1" dirty="0"/>
              <a:t>Перечислите источники используемой </a:t>
            </a:r>
            <a:r>
              <a:rPr lang="ru-RU" sz="1600" b="1" i="1" dirty="0"/>
              <a:t>литературы</a:t>
            </a:r>
            <a:r>
              <a:rPr lang="ru-RU" sz="1600" i="1" dirty="0"/>
              <a:t>:</a:t>
            </a:r>
          </a:p>
          <a:p>
            <a:pPr marL="0" indent="0" algn="just">
              <a:buNone/>
            </a:pPr>
            <a:r>
              <a:rPr lang="ru-RU" sz="1400" dirty="0" smtClean="0"/>
              <a:t>1. </a:t>
            </a:r>
            <a:r>
              <a:rPr lang="ru-RU" sz="1400" dirty="0" err="1" smtClean="0"/>
              <a:t>Троелсен</a:t>
            </a:r>
            <a:r>
              <a:rPr lang="ru-RU" sz="1400" dirty="0" smtClean="0"/>
              <a:t> </a:t>
            </a:r>
            <a:r>
              <a:rPr lang="ru-RU" sz="1400" dirty="0"/>
              <a:t>Э., </a:t>
            </a:r>
            <a:r>
              <a:rPr lang="ru-RU" sz="1400" dirty="0" err="1"/>
              <a:t>Джепикс</a:t>
            </a:r>
            <a:r>
              <a:rPr lang="ru-RU" sz="1400" dirty="0"/>
              <a:t> Ф. Язык программирования C# 10 и платформа .NET 6. — М.: Вильямс, 2022</a:t>
            </a:r>
            <a:r>
              <a:rPr lang="ru-RU" sz="1400" dirty="0" smtClean="0"/>
              <a:t>.</a:t>
            </a:r>
          </a:p>
          <a:p>
            <a:pPr marL="0" indent="0" algn="just">
              <a:buNone/>
            </a:pPr>
            <a:r>
              <a:rPr lang="ru-RU" sz="1400" dirty="0" smtClean="0"/>
              <a:t>2</a:t>
            </a:r>
            <a:r>
              <a:rPr lang="ru-RU" sz="1400" dirty="0" smtClean="0"/>
              <a:t>. </a:t>
            </a:r>
            <a:r>
              <a:rPr lang="ru-RU" sz="1400" dirty="0"/>
              <a:t>Мак-Дональд М. </a:t>
            </a:r>
            <a:r>
              <a:rPr lang="en-US" sz="1400" dirty="0"/>
              <a:t>WPF 4. Windows Presentation Foundation. — </a:t>
            </a:r>
            <a:r>
              <a:rPr lang="ru-RU" sz="1400" dirty="0"/>
              <a:t>СПб.: Питер, 2023.</a:t>
            </a:r>
            <a:endParaRPr lang="ru-RU" sz="1400" u="sng" dirty="0" smtClean="0"/>
          </a:p>
          <a:p>
            <a:pPr marL="0" indent="0" algn="just">
              <a:buNone/>
            </a:pPr>
            <a:r>
              <a:rPr lang="ru-RU" sz="1400" dirty="0" smtClean="0"/>
              <a:t>3. </a:t>
            </a:r>
            <a:r>
              <a:rPr lang="ru-RU" sz="1400" dirty="0"/>
              <a:t>Ньютон-Кинг Т. JSON на практике. — М.: ДМК Пресс, 2021.</a:t>
            </a:r>
            <a:endParaRPr lang="ru-RU" sz="1400" dirty="0"/>
          </a:p>
          <a:p>
            <a:pPr marL="0" indent="0" algn="just">
              <a:buNone/>
            </a:pPr>
            <a:r>
              <a:rPr lang="ru-RU" sz="1400" dirty="0" smtClean="0"/>
              <a:t>4. </a:t>
            </a:r>
            <a:r>
              <a:rPr lang="ru-RU" sz="1400" dirty="0" err="1"/>
              <a:t>Стиллмен</a:t>
            </a:r>
            <a:r>
              <a:rPr lang="ru-RU" sz="1400" dirty="0"/>
              <a:t> Э., Грин Д. Изучаем C#. — СПб.: Питер, 2021.</a:t>
            </a:r>
            <a:endParaRPr lang="ru-RU" sz="1400" dirty="0"/>
          </a:p>
          <a:p>
            <a:pPr marL="0" indent="0" algn="just">
              <a:buNone/>
            </a:pPr>
            <a:r>
              <a:rPr lang="ru-RU" sz="1400" dirty="0" smtClean="0"/>
              <a:t>5. </a:t>
            </a:r>
            <a:r>
              <a:rPr lang="ru-RU" sz="1400" dirty="0"/>
              <a:t>Прайс М. C# 10 и .NET 6. Современная разработка. — М.: ДМК Пресс, 2022.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3113</TotalTime>
  <Words>1384</Words>
  <Application>Microsoft Office PowerPoint</Application>
  <PresentationFormat>Произвольный</PresentationFormat>
  <Paragraphs>136</Paragraphs>
  <Slides>21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   ОТЧЕТ  о прохождении производственной практики   по профессиональному модулю ПМ.01 Разработка программных модулей программного обеспечения компьютерных систем  в период с «18» _____05____ 2026 г. по «30» ____05_____ 2026 г.  Специальность 09.02.07 Информационные системы и программирование  </vt:lpstr>
      <vt:lpstr>Содержание</vt:lpstr>
      <vt:lpstr>Организационный этап</vt:lpstr>
      <vt:lpstr>Техника безопасности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Разработка спецификаций</vt:lpstr>
      <vt:lpstr>Разработка спецификаций</vt:lpstr>
      <vt:lpstr>Разработка спецификаций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rpk2024.5@outlook.com</cp:lastModifiedBy>
  <cp:revision>338</cp:revision>
  <cp:lastPrinted>2019-08-06T13:15:09Z</cp:lastPrinted>
  <dcterms:created xsi:type="dcterms:W3CDTF">2020-03-27T22:15:06Z</dcterms:created>
  <dcterms:modified xsi:type="dcterms:W3CDTF">2026-05-29T12:12:14Z</dcterms:modified>
</cp:coreProperties>
</file>